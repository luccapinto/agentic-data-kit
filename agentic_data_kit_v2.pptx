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Linhas de instrução</c:v>
                </c:pt>
              </c:strCache>
            </c:strRef>
          </c:tx>
          <c:spPr>
            <a:solidFill>
              <a:srgbClr val="14517B"/>
            </a:solidFill>
          </c:spPr>
          <c:cat>
            <c:strRef>
              <c:f>Sheet1!$A$2:$A$6</c:f>
              <c:strCache>
                <c:ptCount val="5"/>
                <c:pt idx="0">
                  <c:v>data-engineer</c:v>
                </c:pt>
                <c:pt idx="1">
                  <c:v>analytics-engineer</c:v>
                </c:pt>
                <c:pt idx="2">
                  <c:v>data-scientist</c:v>
                </c:pt>
                <c:pt idx="3">
                  <c:v>powerbi-developer</c:v>
                </c:pt>
                <c:pt idx="4">
                  <c:v>presentation-designer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</c:v>
                </c:pt>
                <c:pt idx="1">
                  <c:v>43</c:v>
                </c:pt>
                <c:pt idx="2">
                  <c:v>47</c:v>
                </c:pt>
                <c:pt idx="3">
                  <c:v>38</c:v>
                </c:pt>
                <c:pt idx="4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45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AGENTIC DATA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v4.1.0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Drop one folder.
Get a team of AI
data specialists.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Claude Code · GitHub Copilot
OpenCode ·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Junho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B2733"/>
                </a:solidFill>
                <a:latin typeface="Calibri"/>
              </a:rPr>
              <a:t>Uma equipa de IA
para dados,
sem complexidade.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576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A7787"/>
                </a:solidFill>
                <a:latin typeface="Calibri"/>
              </a:rPr>
              <a:t>5 agentes especialistas · 8 skills on-demand
3 workflows · 4 plataformas de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1612880" cy="54864"/>
          </a:xfrm>
          <a:prstGeom prst="rect">
            <a:avLst/>
          </a:prstGeom>
          <a:solidFill>
            <a:srgbClr val="145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517B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733"/>
                </a:solidFill>
                <a:latin typeface="Calibri"/>
              </a:rPr>
              <a:t>LLMs genéricos não conhecem o teu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486400" cy="146304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64592" cy="146304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</a:rPr>
              <a:t>Contexto perdido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787"/>
                </a:solidFill>
                <a:latin typeface="Calibri"/>
              </a:rPr>
              <a:t>Cada sessão começa do zero — sem padrões, sem stack, sem regras da equipa.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5486400" cy="146304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164592" cy="146304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</a:rPr>
              <a:t>Routing confuso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231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787"/>
                </a:solidFill>
                <a:latin typeface="Calibri"/>
              </a:rPr>
              <a:t>O modelo não sabe se é data eng, analytics ou Power BI — tenta tudo de vez.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486400" cy="146304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164592" cy="146304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</a:rPr>
              <a:t>Duplicação entre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787"/>
                </a:solidFill>
                <a:latin typeface="Calibri"/>
              </a:rPr>
              <a:t>Copilot, Claude, Cursor — cada um tem instruções diferentes e desalinhadas.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5486400" cy="146304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164592" cy="146304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</a:rPr>
              <a:t>PII e qualidade ignorados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605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787"/>
                </a:solidFill>
                <a:latin typeface="Calibri"/>
              </a:rPr>
              <a:t>Sem guardrails, o modelo sugere pipelines sem masking nem idempotência.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1612880" cy="54864"/>
          </a:xfrm>
          <a:prstGeom prst="rect">
            <a:avLst/>
          </a:prstGeom>
          <a:solidFill>
            <a:srgbClr val="145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517B"/>
                </a:solidFill>
                <a:latin typeface="Calibri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733"/>
                </a:solidFill>
                <a:latin typeface="Calibri"/>
              </a:rPr>
              <a:t>Contexto especializado, instalado em segundos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914400"/>
          </a:xfrm>
          <a:prstGeom prst="roundRect">
            <a:avLst/>
          </a:prstGeom>
          <a:solidFill>
            <a:srgbClr val="1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npx @luccapinto/agentic-data-kit@latest init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164592" cy="128016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</a:rPr>
              <a:t>Agentes por domínio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787"/>
                </a:solidFill>
                <a:latin typeface="Calibri"/>
              </a:rPr>
              <a:t>Cada especialidade tem o seu próprio agente — sem sobreposição.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108960"/>
            <a:ext cx="164592" cy="128016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</a:rPr>
              <a:t>Skills on-demand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611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787"/>
                </a:solidFill>
                <a:latin typeface="Calibri"/>
              </a:rPr>
              <a:t>Carregadas só quando necessário — não poluem o contexto.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63440"/>
            <a:ext cx="164592" cy="128016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</a:rPr>
              <a:t>Multi-plataforma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787"/>
                </a:solidFill>
                <a:latin typeface="Calibri"/>
              </a:rPr>
              <a:t>Uma source of truth (.agent/) compila para 4 ferramentas.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663440"/>
            <a:ext cx="164592" cy="128016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</a:rPr>
              <a:t>Guardrails de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166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787"/>
                </a:solidFill>
                <a:latin typeface="Calibri"/>
              </a:rPr>
              <a:t>Idempotência, Write-Audit-Publish e masking de PII embutidos.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1612880" cy="54864"/>
          </a:xfrm>
          <a:prstGeom prst="rect">
            <a:avLst/>
          </a:prstGeom>
          <a:solidFill>
            <a:srgbClr val="145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517B"/>
                </a:solidFill>
                <a:latin typeface="Calibri"/>
              </a:rPr>
              <a:t>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733"/>
                </a:solidFill>
                <a:latin typeface="Calibri"/>
              </a:rPr>
              <a:t>5 especialistas com domínios não sobrepostos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20"/>
            <a:ext cx="164592" cy="685800"/>
          </a:xfrm>
          <a:prstGeom prst="rect">
            <a:avLst/>
          </a:prstGeom>
          <a:solidFill>
            <a:srgbClr val="145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94360" cy="77724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01952"/>
            <a:ext cx="530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517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019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733"/>
                </a:solidFill>
                <a:latin typeface="Calibri"/>
              </a:rPr>
              <a:t>@data-engineer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311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ETL/ELT · Medallion Architecture · idempotência · Write-Audit-Publish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164592" cy="685800"/>
          </a:xfrm>
          <a:prstGeom prst="rect">
            <a:avLst/>
          </a:prstGeom>
          <a:solidFill>
            <a:srgbClr val="145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743200"/>
            <a:ext cx="594360" cy="77724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816352"/>
            <a:ext cx="530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517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733"/>
                </a:solidFill>
                <a:latin typeface="Calibri"/>
              </a:rPr>
              <a:t>@analytics-engineer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455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dbt · Star Schema · DW design · SQL transformations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64592" cy="685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657600"/>
            <a:ext cx="594360" cy="77724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730752"/>
            <a:ext cx="530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E7C66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307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733"/>
                </a:solidFill>
                <a:latin typeface="Calibri"/>
              </a:rPr>
              <a:t>@data-scientist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599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Análise · KPIs · ML · forecasting · A/B testing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17720"/>
            <a:ext cx="164592" cy="685800"/>
          </a:xfrm>
          <a:prstGeom prst="rect">
            <a:avLst/>
          </a:prstGeom>
          <a:solidFill>
            <a:srgbClr val="5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572000"/>
            <a:ext cx="594360" cy="77724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645152"/>
            <a:ext cx="530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B4A8C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6451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733"/>
                </a:solidFill>
                <a:latin typeface="Calibri"/>
              </a:rPr>
              <a:t>@powerbi-developer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743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TMDL · PBIR · DAX · BPA via Tabular Editor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32120"/>
            <a:ext cx="164592" cy="685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5486400"/>
            <a:ext cx="594360" cy="77724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5559552"/>
            <a:ext cx="530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E7C66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5595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733"/>
                </a:solidFill>
                <a:latin typeface="Calibri"/>
              </a:rPr>
              <a:t>@presentation-designer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8887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reveal.js · python-pptx · sites interativos · brand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1612880" cy="54864"/>
          </a:xfrm>
          <a:prstGeom prst="rect">
            <a:avLst/>
          </a:prstGeom>
          <a:solidFill>
            <a:srgbClr val="145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517B"/>
                </a:solidFill>
                <a:latin typeface="Calibri"/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733"/>
                </a:solidFill>
                <a:latin typeface="Calibri"/>
              </a:rPr>
              <a:t>8 módulos de conhecimento ativados on-demand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91440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28016" cy="914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17B"/>
                </a:solidFill>
                <a:latin typeface="Calibri"/>
              </a:rPr>
              <a:t>pbi-semantic-layer-tmdl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Modelos semânticos Power BI como código (TMDL)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5669280" cy="91440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920240"/>
            <a:ext cx="128016" cy="914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99339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17B"/>
                </a:solidFill>
                <a:latin typeface="Calibri"/>
              </a:rPr>
              <a:t>pbi-report-layer-pbir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35915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Reports Power BI como código (PBIR JSON)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5669280" cy="91440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128016" cy="914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4495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17B"/>
                </a:solidFill>
                <a:latin typeface="Calibri"/>
              </a:rPr>
              <a:t>pbi-quality-rules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1071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BPA via Tabular Editor 2 CLI — validação automática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971800"/>
            <a:ext cx="5669280" cy="91440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971800"/>
            <a:ext cx="128016" cy="914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04495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17B"/>
                </a:solidFill>
                <a:latin typeface="Calibri"/>
              </a:rPr>
              <a:t>building-html-presentations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41071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reveal.js, flex-deck, sites interativos, PDFs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5669280" cy="91440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128016" cy="914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9651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17B"/>
                </a:solidFill>
                <a:latin typeface="Calibri"/>
              </a:rPr>
              <a:t>generating-pptx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6227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PowerPoint nativo editável via python-pptx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023360"/>
            <a:ext cx="5669280" cy="91440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4023360"/>
            <a:ext cx="128016" cy="914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09651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17B"/>
                </a:solidFill>
                <a:latin typeface="Calibri"/>
              </a:rPr>
              <a:t>applying-visual-identity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46227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Brand tokens de DESIGN.md em qualquer 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74920"/>
            <a:ext cx="5669280" cy="91440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074920"/>
            <a:ext cx="128016" cy="914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4807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17B"/>
                </a:solidFill>
                <a:latin typeface="Calibri"/>
              </a:rPr>
              <a:t>documentation-templates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51383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Runbooks, dicionários, ADRs, catálogos Power BI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5074920"/>
            <a:ext cx="5669280" cy="91440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5074920"/>
            <a:ext cx="128016" cy="914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514807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17B"/>
                </a:solidFill>
                <a:latin typeface="Calibri"/>
              </a:rPr>
              <a:t>creating-agents-and-skills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51383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Governance para criar e sincronizar agentes/skills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1612880" cy="54864"/>
          </a:xfrm>
          <a:prstGeom prst="rect">
            <a:avLst/>
          </a:prstGeom>
          <a:solidFill>
            <a:srgbClr val="145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517B"/>
                </a:solidFill>
                <a:latin typeface="Calibr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733"/>
                </a:solidFill>
                <a:latin typeface="Calibri"/>
              </a:rPr>
              <a:t>Uma source of truth, quatro plataformas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2560320"/>
            <a:ext cx="2286000" cy="1463040"/>
          </a:xfrm>
          <a:prstGeom prst="roundRect">
            <a:avLst/>
          </a:prstGeom>
          <a:solidFill>
            <a:srgbClr val="145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.agent/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Source of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19456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C66"/>
                </a:solidFill>
                <a:latin typeface="Calibri"/>
              </a:rPr>
              <a:t>.claude/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27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Claude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651760"/>
            <a:ext cx="219456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2743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C66"/>
                </a:solidFill>
                <a:latin typeface="Calibri"/>
              </a:rPr>
              <a:t>.github/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3127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GitHub Copilot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219456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5B4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663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4A8C"/>
                </a:solidFill>
                <a:latin typeface="Calibri"/>
              </a:rPr>
              <a:t>.opencode/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47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OpenCode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4572000"/>
            <a:ext cx="219456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5B4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4663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4A8C"/>
                </a:solidFill>
                <a:latin typeface="Calibri"/>
              </a:rPr>
              <a:t>AGENTS.md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5047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787"/>
                </a:solidFill>
                <a:latin typeface="Calibri"/>
              </a:rPr>
              <a:t>Cursor / outros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852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A7787"/>
                </a:solidFill>
                <a:latin typeface="Calibri"/>
              </a:rPr>
              <a:t>scripts/sync_agents.py compila automaticamente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1612880" cy="54864"/>
          </a:xfrm>
          <a:prstGeom prst="rect">
            <a:avLst/>
          </a:prstGeom>
          <a:solidFill>
            <a:srgbClr val="145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517B"/>
                </a:solidFill>
                <a:latin typeface="Calibr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733"/>
                </a:solidFill>
                <a:latin typeface="Calibri"/>
              </a:rPr>
              <a:t>Kit completo, lean e pronto a usar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02153" cy="164592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/>
            <a:r>
              <a:rPr sz="2800" b="1">
                <a:solidFill>
                  <a:srgbClr val="14517B"/>
                </a:solidFill>
                <a:latin typeface="Calibri"/>
              </a:rPr>
              <a:t>5</a:t>
            </a:r>
          </a:p>
          <a:p>
            <a:r>
              <a:rPr sz="1000">
                <a:solidFill>
                  <a:srgbClr val="6A7787"/>
                </a:solidFill>
                <a:latin typeface="Calibri"/>
              </a:rPr>
              <a:t>Agentes especialistas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9393" y="2011680"/>
            <a:ext cx="2602153" cy="164592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/>
            <a:r>
              <a:rPr sz="2800" b="1">
                <a:solidFill>
                  <a:srgbClr val="0E7C66"/>
                </a:solidFill>
                <a:latin typeface="Calibri"/>
              </a:rPr>
              <a:t>8</a:t>
            </a:r>
          </a:p>
          <a:p>
            <a:r>
              <a:rPr sz="1000">
                <a:solidFill>
                  <a:srgbClr val="6A7787"/>
                </a:solidFill>
                <a:latin typeface="Calibri"/>
              </a:rPr>
              <a:t>Skills on-demand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6" y="2011680"/>
            <a:ext cx="2602153" cy="164592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/>
            <a:r>
              <a:rPr sz="2800" b="1">
                <a:solidFill>
                  <a:srgbClr val="5B4A8C"/>
                </a:solidFill>
                <a:latin typeface="Calibri"/>
              </a:rPr>
              <a:t>3</a:t>
            </a:r>
          </a:p>
          <a:p>
            <a:r>
              <a:rPr sz="1000">
                <a:solidFill>
                  <a:srgbClr val="6A7787"/>
                </a:solidFill>
                <a:latin typeface="Calibri"/>
              </a:rPr>
              <a:t>Workflows / slash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0899" y="2011680"/>
            <a:ext cx="2602153" cy="1645920"/>
          </a:xfrm>
          <a:prstGeom prst="round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/>
            <a:r>
              <a:rPr sz="2800" b="1">
                <a:solidFill>
                  <a:srgbClr val="14517B"/>
                </a:solidFill>
                <a:latin typeface="Calibri"/>
              </a:rPr>
              <a:t>4</a:t>
            </a:r>
          </a:p>
          <a:p>
            <a:r>
              <a:rPr sz="1000">
                <a:solidFill>
                  <a:srgbClr val="6A7787"/>
                </a:solidFill>
                <a:latin typeface="Calibri"/>
              </a:rPr>
              <a:t>Plataformas suportadas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931920"/>
          <a:ext cx="1106424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7490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7787"/>
                </a:solidFill>
                <a:latin typeface="Calibri"/>
              </a:rPr>
              <a:t>LINHAS DE INSTRUÇÃO POR AGENTE — lean por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A7787"/>
                </a:solidFill>
                <a:latin typeface="Calibri"/>
              </a:rPr>
              <a:t>Fonte: repositório luccapinto/agentic-data-kit v4.1.0 · MIT License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AGENTIC DATA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Menos contexto genérico.
Mais especialização.
Mesmos resultados em qualquer ferramenta.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npx @luccapinto/agentic-data-kit@latest init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github.com/luccapinto/agentic-data-kit · MIT License · v4.1.0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